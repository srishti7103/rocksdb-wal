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2137"/>
                </a:solidFill>
                <a:latin typeface="Arial"/>
              </a:rPr>
              <a:t>Write Throughput by Sync Mode (ops/sec)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Ops / sec</c:v>
                </c:pt>
              </c:strCache>
            </c:strRef>
          </c:tx>
          <c:spPr>
            <a:solidFill>
              <a:srgbClr val="1A6FA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6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482-48D1-8962-ACCB6DC6EBA8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82-48D1-8962-ACCB6DC6EBA8}"/>
              </c:ext>
            </c:extLst>
          </c:dPt>
          <c:dPt>
            <c:idx val="2"/>
            <c:invertIfNegative val="0"/>
            <c:bubble3D val="0"/>
            <c:spPr>
              <a:solidFill>
                <a:srgbClr val="D94F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482-48D1-8962-ACCB6DC6EBA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WAL</c:v>
                </c:pt>
                <c:pt idx="1">
                  <c:v>Buffered</c:v>
                </c:pt>
                <c:pt idx="2">
                  <c:v>StrictSync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321074</c:v>
                </c:pt>
                <c:pt idx="1">
                  <c:v>236848</c:v>
                </c:pt>
                <c:pt idx="2">
                  <c:v>452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82-48D1-8962-ACCB6DC6EB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WAL Bytes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778-4C86-A00F-021005491D84}"/>
              </c:ext>
            </c:extLst>
          </c:dPt>
          <c:dPt>
            <c:idx val="1"/>
            <c:bubble3D val="0"/>
            <c:spPr>
              <a:solidFill>
                <a:srgbClr val="D94F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778-4C86-A00F-021005491D8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Payload Data (99.9%)</c:v>
                </c:pt>
                <c:pt idx="1">
                  <c:v>Header Overhead (0.1%)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50000000</c:v>
                </c:pt>
                <c:pt idx="1">
                  <c:v>45726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78-4C86-A00F-021005491D84}"/>
            </c:ext>
          </c:extLst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2137"/>
                </a:solidFill>
                <a:latin typeface="Arial"/>
              </a:rPr>
              <a:t>Recovery Time (ms) by WALRecoveryMode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Recovery Time (ms)</c:v>
                </c:pt>
              </c:strCache>
            </c:strRef>
          </c:tx>
          <c:spPr>
            <a:solidFill>
              <a:srgbClr val="D94F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C30-4AAD-A867-2C9602812B39}"/>
              </c:ext>
            </c:extLst>
          </c:dPt>
          <c:dPt>
            <c:idx val="1"/>
            <c:invertIfNegative val="0"/>
            <c:bubble3D val="0"/>
            <c:spPr>
              <a:solidFill>
                <a:srgbClr val="E8A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C30-4AAD-A867-2C9602812B39}"/>
              </c:ext>
            </c:extLst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C30-4AAD-A867-2C9602812B3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AbsoluteConsistency</c:v>
                </c:pt>
                <c:pt idx="1">
                  <c:v>PointInTime</c:v>
                </c:pt>
                <c:pt idx="2">
                  <c:v>TolerateCorrupted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22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C30-4AAD-A867-2C9602812B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2137"/>
                </a:solidFill>
                <a:latin typeface="Arial"/>
              </a:rPr>
              <a:t>Group Commit: Throughput vs. Thread Count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(ops/sec)</c:v>
                </c:pt>
              </c:strCache>
            </c:strRef>
          </c:tx>
          <c:spPr>
            <a:ln w="38100" cap="flat">
              <a:solidFill>
                <a:srgbClr val="00A8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Thread</c:v>
                </c:pt>
                <c:pt idx="1">
                  <c:v>4 Threads</c:v>
                </c:pt>
                <c:pt idx="2">
                  <c:v>8 Threads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471</c:v>
                </c:pt>
                <c:pt idx="1">
                  <c:v>1637</c:v>
                </c:pt>
                <c:pt idx="2">
                  <c:v>2033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6DA-4C1C-BD80-41048A610F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2137"/>
                </a:solidFill>
                <a:latin typeface="Arial"/>
              </a:rPr>
              <a:t>WAL Recovery Time (ms) vs. Record Volume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Recovery Time (ms)</c:v>
                </c:pt>
              </c:strCache>
            </c:strRef>
          </c:tx>
          <c:spPr>
            <a:ln w="38100" cap="flat">
              <a:solidFill>
                <a:srgbClr val="D94F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4F3D"/>
              </a:solidFill>
              <a:ln w="9525" cap="flat">
                <a:solidFill>
                  <a:srgbClr val="D94F3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10 K</c:v>
                </c:pt>
                <c:pt idx="1">
                  <c:v>50 K</c:v>
                </c:pt>
                <c:pt idx="2">
                  <c:v>100 K</c:v>
                </c:pt>
                <c:pt idx="3">
                  <c:v>500 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80</c:v>
                </c:pt>
                <c:pt idx="2">
                  <c:v>176</c:v>
                </c:pt>
                <c:pt idx="3">
                  <c:v>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AD-494E-9463-850D968CF9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90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478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 ·  DA-IICT, GANDHINAGAR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RocksDB Write-Ahead Log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Instrumentation &amp; Experimental Analysis of Durability, Throughput &amp; Recovery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39319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154680"/>
            <a:ext cx="64008" cy="1463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46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5844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Srishti Lamba</a:t>
            </a: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202518003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8953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Nikita Sharma</a:t>
            </a: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202518038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3154680"/>
            <a:ext cx="10058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338328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3440" y="395020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79008" y="3154680"/>
            <a:ext cx="10058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79008" y="338328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779008" y="395020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Modified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94576" y="3154680"/>
            <a:ext cx="10058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94576" y="338328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524×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94576" y="395020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fsync Tax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10144" y="3154680"/>
            <a:ext cx="10058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10144" y="338328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4.3×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010144" y="395020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Commit Gain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RocksDB need a Write-Ahead Log?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263347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53312"/>
            <a:ext cx="64008" cy="3246120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LSM-Tree Architecture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4231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first land in the volatile in-memory MemTable (a lock-free skip-list). Background compaction periodically flushes sorted runs to disk as SST files. Optimized for write throughput at the cost of read amplification.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353312"/>
            <a:ext cx="263347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53312"/>
            <a:ext cx="64008" cy="324612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64992" y="19385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Durability Problem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64992" y="24231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is ephemeral by nature. A power failure or kernel panic before MemTable flush causes total data loss for all recent writes. SST files on disk are safe, but anything in-memory is gone.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353312"/>
            <a:ext cx="263347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53312"/>
            <a:ext cx="64008" cy="3246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99632" y="19385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— The Solution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9632" y="24231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operation (Put, Merge, Delete) is appended sequentially to the WAL on disk BEFORE MemTable insertion. On recovery, the engine replays the log to reconstruct exact MemTable state.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773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GUARANTEE:  WAL replay reconstructs MemTable exactly as it was — zero data loss for any acknowledged write.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—  THE WAL MECHANISM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Trace: Put(key, value) → Non-Volatile Storage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344168"/>
            <a:ext cx="1234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44168"/>
            <a:ext cx="1234440" cy="502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" y="1435608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WriteRequest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Put(key,val)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5176" y="1892808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entry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463040" y="1719072"/>
            <a:ext cx="210312" cy="0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73352" y="1344168"/>
            <a:ext cx="1234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1A6FA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73352" y="1344168"/>
            <a:ext cx="1234440" cy="50292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12" name="Text 10"/>
          <p:cNvSpPr/>
          <p:nvPr/>
        </p:nvSpPr>
        <p:spPr>
          <a:xfrm>
            <a:off x="1728216" y="1435608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Group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09928" y="1892808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write_thread.cc:440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907792" y="1719072"/>
            <a:ext cx="210312" cy="0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18104" y="1344168"/>
            <a:ext cx="1234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1A6FA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18104" y="1344168"/>
            <a:ext cx="1234440" cy="50292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17" name="Text 15"/>
          <p:cNvSpPr/>
          <p:nvPr/>
        </p:nvSpPr>
        <p:spPr>
          <a:xfrm>
            <a:off x="3172968" y="1435608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Record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154680" y="1892808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log_writer.cc:320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352544" y="1719072"/>
            <a:ext cx="210312" cy="0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62856" y="1344168"/>
            <a:ext cx="1234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62856" y="1344168"/>
            <a:ext cx="1234440" cy="5029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1435608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 Block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99432" y="1892808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log_format.h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797296" y="1719072"/>
            <a:ext cx="210312" cy="0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07608" y="1344168"/>
            <a:ext cx="1234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4F3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07608" y="1344168"/>
            <a:ext cx="1234440" cy="50292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27" name="Text 25"/>
          <p:cNvSpPr/>
          <p:nvPr/>
        </p:nvSpPr>
        <p:spPr>
          <a:xfrm>
            <a:off x="6062472" y="1435608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fsync / OS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Policy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44184" y="1892808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db_impl_write.cc:2264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242048" y="1719072"/>
            <a:ext cx="210312" cy="0"/>
          </a:xfrm>
          <a:prstGeom prst="line">
            <a:avLst/>
          </a:prstGeom>
          <a:noFill/>
          <a:ln w="19050">
            <a:solidFill>
              <a:srgbClr val="0D21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52360" y="1344168"/>
            <a:ext cx="1234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52360" y="1344168"/>
            <a:ext cx="1234440" cy="502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7507224" y="1435608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MemTable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488936" y="1892808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Skip-list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28600" y="2286000"/>
            <a:ext cx="265176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1A6FA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2286000"/>
            <a:ext cx="64008" cy="1353312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36" name="Shape 34"/>
          <p:cNvSpPr/>
          <p:nvPr/>
        </p:nvSpPr>
        <p:spPr>
          <a:xfrm>
            <a:off x="292608" y="2286000"/>
            <a:ext cx="914400" cy="274320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230428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93192" y="2624328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Commit: N concurrent writers elect a leader who issues a single fsync for the entire batch — amortizing the I/O cost.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08960" y="2286000"/>
            <a:ext cx="265176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08960" y="2286000"/>
            <a:ext cx="64008" cy="135331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1" name="Shape 39"/>
          <p:cNvSpPr/>
          <p:nvPr/>
        </p:nvSpPr>
        <p:spPr>
          <a:xfrm>
            <a:off x="3172968" y="2286000"/>
            <a:ext cx="914400" cy="2743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0" y="230428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73552" y="2624328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Fixed-Block Alignment: Records crossing a 32 KB boundary are split into FIRST / MIDDLE / LAST fragments, each with a 7-byte header.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89320" y="2286000"/>
            <a:ext cx="265176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94F3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989320" y="2286000"/>
            <a:ext cx="64008" cy="1353312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46" name="Shape 44"/>
          <p:cNvSpPr/>
          <p:nvPr/>
        </p:nvSpPr>
        <p:spPr>
          <a:xfrm>
            <a:off x="6053328" y="2286000"/>
            <a:ext cx="914400" cy="27432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47" name="Text 45"/>
          <p:cNvSpPr/>
          <p:nvPr/>
        </p:nvSpPr>
        <p:spPr>
          <a:xfrm>
            <a:off x="6080760" y="230428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53912" y="2624328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Policy: O_SYNC vs. OS-buffered. fsync() is the single biggest determinant of write throughput in the entire system.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-9144" y="4101084"/>
            <a:ext cx="9144000" cy="104241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41913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PATH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5760" y="4418674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crash-restart, log::Reader replays every WAL record sequentially. Each 7-byte header carries a CRC-32C checksum. Any mismatch signals a torn write and the record is discarded — the database never enters an inconsistent state. Recovery time scales proportionally with uncompressed WAL volume (Study 5).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 STRATEGY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Zero-impact telemetry via std::atomic counters injected into 8 core source files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53312"/>
            <a:ext cx="566928" cy="8046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8191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4264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db/log_writer.cc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1773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&amp; payload atomic counters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30168" y="1609344"/>
            <a:ext cx="822960" cy="25603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3630168" y="16276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2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" y="2249424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49424"/>
            <a:ext cx="566928" cy="8046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478024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23225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db/log_writer.h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" y="2670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counter declarations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30168" y="2505456"/>
            <a:ext cx="822960" cy="25603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8" name="Text 16"/>
          <p:cNvSpPr/>
          <p:nvPr/>
        </p:nvSpPr>
        <p:spPr>
          <a:xfrm>
            <a:off x="3630168" y="252374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2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65760" y="3145536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145536"/>
            <a:ext cx="566928" cy="8046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374136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+19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32186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db/write_thread.h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" y="35661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&amp; group commit metrics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30168" y="3401568"/>
            <a:ext cx="822960" cy="2560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3630168" y="34198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4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5760" y="4041648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41648"/>
            <a:ext cx="566928" cy="8046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270248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24128" y="4114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db/write_thread.cc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24128" y="44622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commit efficiency logic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30168" y="4297680"/>
            <a:ext cx="822960" cy="2560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3630168" y="431596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4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54880" y="1353312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1353312"/>
            <a:ext cx="566928" cy="8046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158191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13248" y="14264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db/db_impl/db_impl_write.cc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13248" y="1773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Sync-mode performance counters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19288" y="1609344"/>
            <a:ext cx="822960" cy="256032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39" name="Text 37"/>
          <p:cNvSpPr/>
          <p:nvPr/>
        </p:nvSpPr>
        <p:spPr>
          <a:xfrm>
            <a:off x="8019288" y="16276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1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0" y="2249424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249424"/>
            <a:ext cx="566928" cy="8046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2478024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13248" y="23225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db/db_impl/db_impl_open.cc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13248" y="2670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path timing &amp; telemetry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019288" y="2505456"/>
            <a:ext cx="822960" cy="256032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46" name="Text 44"/>
          <p:cNvSpPr/>
          <p:nvPr/>
        </p:nvSpPr>
        <p:spPr>
          <a:xfrm>
            <a:off x="8019288" y="252374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3 &amp; 5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54880" y="3145536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3145536"/>
            <a:ext cx="566928" cy="8046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9" name="Text 47"/>
          <p:cNvSpPr/>
          <p:nvPr/>
        </p:nvSpPr>
        <p:spPr>
          <a:xfrm>
            <a:off x="4754880" y="3374136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413248" y="32186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db/log_reader.cc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13248" y="35661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mismatch &amp; corruption detection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019288" y="3401568"/>
            <a:ext cx="822960" cy="256032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53" name="Text 51"/>
          <p:cNvSpPr/>
          <p:nvPr/>
        </p:nvSpPr>
        <p:spPr>
          <a:xfrm>
            <a:off x="8019288" y="34198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3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754880" y="4041648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54880" y="4041648"/>
            <a:ext cx="566928" cy="8046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6" name="Text 54"/>
          <p:cNvSpPr/>
          <p:nvPr/>
        </p:nvSpPr>
        <p:spPr>
          <a:xfrm>
            <a:off x="4754880" y="4270248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413248" y="4114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db/log_format.h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13248" y="44622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block-level macro logic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019288" y="4297680"/>
            <a:ext cx="822960" cy="25603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60" name="Text 58"/>
          <p:cNvSpPr/>
          <p:nvPr/>
        </p:nvSpPr>
        <p:spPr>
          <a:xfrm>
            <a:off x="8019288" y="431596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895" y="-4622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 ·  STUDY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0" y="13716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Performance Tax of Durability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6751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fsync() actually cost?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5029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/>
        </p:nvGraphicFramePr>
        <p:xfrm>
          <a:off x="320040" y="1353312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2601940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2601940"/>
            <a:ext cx="64008" cy="1097280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10" name="Text 7"/>
          <p:cNvSpPr/>
          <p:nvPr/>
        </p:nvSpPr>
        <p:spPr>
          <a:xfrm>
            <a:off x="5687568" y="26568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687568" y="2912836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db_impl_write.cc to inject atomic counters per sync mode. Ran the same 10,000-write workload under three policies: No WAL, OS-buffered, and Strict fsync.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77840" y="1349894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1349894"/>
            <a:ext cx="64008" cy="109728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4" name="Text 11"/>
          <p:cNvSpPr/>
          <p:nvPr/>
        </p:nvSpPr>
        <p:spPr>
          <a:xfrm>
            <a:off x="5687568" y="140475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87568" y="1660790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fsync would be slower due to the kernel flush overhead. We expected a 10–50× gap, not the extreme result we found.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3803904"/>
            <a:ext cx="3246120" cy="1207008"/>
          </a:xfrm>
          <a:prstGeom prst="rect">
            <a:avLst/>
          </a:prstGeom>
          <a:solidFill>
            <a:srgbClr val="D94F3D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15000" y="385876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15000" y="4114800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fsync() introduces a 524× throughput floor — not a gradual cost, but a cliff. Every production engineer must choose their durability tier deliberately.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 ·  STUDY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0" y="13716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Overhead &amp; Block Fragmentation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storage cost of fixed-block alignment?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5029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019848632"/>
              </p:ext>
            </p:extLst>
          </p:nvPr>
        </p:nvGraphicFramePr>
        <p:xfrm>
          <a:off x="320040" y="1353312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2552931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2552931"/>
            <a:ext cx="64008" cy="1097280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10" name="Text 7"/>
          <p:cNvSpPr/>
          <p:nvPr/>
        </p:nvSpPr>
        <p:spPr>
          <a:xfrm>
            <a:off x="5687568" y="2607795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687568" y="2863827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Instrumented log_writer.cc with two atomic counters tracking header bytes emitted vs. payload bytes written across 5,000 sequential records of 10 KB each.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77840" y="1370577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1370577"/>
            <a:ext cx="64008" cy="109728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4" name="Text 11"/>
          <p:cNvSpPr/>
          <p:nvPr/>
        </p:nvSpPr>
        <p:spPr>
          <a:xfrm>
            <a:off x="5683374" y="1429639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83374" y="1685671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32 KB block boundaries would force some records to be split, producing measurable header-to-payload overhead — but the system is designed to keep it negligible.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3803904"/>
            <a:ext cx="3246120" cy="1207008"/>
          </a:xfrm>
          <a:prstGeom prst="rect">
            <a:avLst/>
          </a:prstGeom>
          <a:solidFill>
            <a:srgbClr val="0D2137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15000" y="385876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15000" y="4114800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0.1% overhead from 7-byte per-record headers — hardware-page alignment is effectively free, but intentional.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 ·  STUDY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0" y="13716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WALRecoveryMode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701057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recovery mode minimises MTTR?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5029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/>
        </p:nvGraphicFramePr>
        <p:xfrm>
          <a:off x="320040" y="1353312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2541207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2541207"/>
            <a:ext cx="64008" cy="1097280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10" name="Text 7"/>
          <p:cNvSpPr/>
          <p:nvPr/>
        </p:nvSpPr>
        <p:spPr>
          <a:xfrm>
            <a:off x="5687568" y="2596071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687568" y="2852103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db_impl_open.cc to time the full recovery phase under three WALRecoveryMode settings: AbsoluteConsistency, PointInTime, and TolerateCorruptedTailRecords.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77840" y="1299449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1303648"/>
            <a:ext cx="64008" cy="109728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4" name="Text 11"/>
          <p:cNvSpPr/>
          <p:nvPr/>
        </p:nvSpPr>
        <p:spPr>
          <a:xfrm>
            <a:off x="5687568" y="137948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87568" y="1635514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consistency modes would do more validation work per record, producing measurably longer recovery times even on a clean-shutdown WAL.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3803904"/>
            <a:ext cx="3246120" cy="1207008"/>
          </a:xfrm>
          <a:prstGeom prst="rect">
            <a:avLst/>
          </a:prstGeom>
          <a:solidFill>
            <a:srgbClr val="1A6FA0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15000" y="385876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>
              <a:solidFill>
                <a:srgbClr val="FFFF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5715000" y="4114800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TolerateCorruptedTailRecords is 1.5× faster to recover — half the MTTR for workloads that can tolerate tail-record loss.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 ·  STUDY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0" y="13716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Writing &amp; Group Commit Efficiency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concurrency actually help when fsync is the bottleneck?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5029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/>
        </p:nvGraphicFramePr>
        <p:xfrm>
          <a:off x="320040" y="1353312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2582028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2582028"/>
            <a:ext cx="64008" cy="1097280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10" name="Text 7"/>
          <p:cNvSpPr/>
          <p:nvPr/>
        </p:nvSpPr>
        <p:spPr>
          <a:xfrm>
            <a:off x="5687568" y="26368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687568" y="2892924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Instrumented write_thread.cc to track group-commit batch size and total ops/sec as concurrent writer threads scaled from 1 → 4 → 8. Same total write volume per run.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73268" y="1329300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4607" y="1325880"/>
            <a:ext cx="64008" cy="109728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0" y="141445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733288" y="1594476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every batch still incurs one fsync, amortizing that cost over more writes per batch should produce super-linear throughput gains.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3803904"/>
            <a:ext cx="3246120" cy="1207008"/>
          </a:xfrm>
          <a:prstGeom prst="rect">
            <a:avLst/>
          </a:prstGeom>
          <a:solidFill>
            <a:srgbClr val="00A896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15000" y="385876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15000" y="4114800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Commit delivers 4.3× throughput amplification at 8 threads — the leader-follower pattern is the WAL's most powerful performance mechanism.</a:t>
            </a:r>
            <a:endParaRPr lang="en-US" sz="105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9EC5EF57-CF2D-9265-1754-E0FB51C9CE90}"/>
              </a:ext>
            </a:extLst>
          </p:cNvPr>
          <p:cNvSpPr/>
          <p:nvPr/>
        </p:nvSpPr>
        <p:spPr>
          <a:xfrm>
            <a:off x="5740855" y="389278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 ·  STUDY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0" y="13716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vs. WAL Volume — Recovery Scaling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3148" y="676656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recovery time scale with WAL data volume?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5029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/>
        </p:nvGraphicFramePr>
        <p:xfrm>
          <a:off x="320040" y="1353312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2586482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2586482"/>
            <a:ext cx="64008" cy="1097280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10" name="Text 7"/>
          <p:cNvSpPr/>
          <p:nvPr/>
        </p:nvSpPr>
        <p:spPr>
          <a:xfrm>
            <a:off x="5687568" y="264134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687568" y="2897378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db_impl_open.cc telemetry to measure full WAL replay time as uncompressed log size grew from 10 K to 500 K records. Each point is the average of three cold-start runs.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09623" y="1352284"/>
            <a:ext cx="3246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619" y="1353828"/>
            <a:ext cx="64008" cy="109728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4" name="Text 11"/>
          <p:cNvSpPr/>
          <p:nvPr/>
        </p:nvSpPr>
        <p:spPr>
          <a:xfrm>
            <a:off x="5739925" y="14086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726209" y="1572865"/>
            <a:ext cx="30449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replay is sequential and compute-bound per record. Recovery time should scale sub-linearly due to buffered I/O — or linearly if CPU parsing dominates.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3803904"/>
            <a:ext cx="3246120" cy="1207008"/>
          </a:xfrm>
          <a:prstGeom prst="rect">
            <a:avLst/>
          </a:prstGeom>
          <a:solidFill>
            <a:srgbClr val="0D2137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15000" y="385876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15000" y="4114800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scales proportionally with WAL volume — stalled compaction is a direct availability risk. WAL rotation (SwitchWAL) must be tuned to cap recovery window.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 ·  SYNTHESIS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experiments — one coherent picture of durability, performance &amp; resilience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609344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4F3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1609344" cy="54864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3716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93192" y="1810512"/>
            <a:ext cx="1463040" cy="640080"/>
          </a:xfrm>
          <a:prstGeom prst="rect">
            <a:avLst/>
          </a:prstGeom>
          <a:solidFill>
            <a:srgbClr val="D94F3D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524×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3192" y="2221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fsync tax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5328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Is Never Free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999232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fsync() imposes a 524× performance cliff. Every production system must deliberately choose a durability tier — there is no safe default.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57400" y="1298448"/>
            <a:ext cx="1609344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57400" y="1298448"/>
            <a:ext cx="1609344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2130552" y="13716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130552" y="1810512"/>
            <a:ext cx="1463040" cy="640080"/>
          </a:xfrm>
          <a:prstGeom prst="rect">
            <a:avLst/>
          </a:prstGeom>
          <a:solidFill>
            <a:srgbClr val="00A896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30552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130552" y="2221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gain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48840" y="25328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Is the Lever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48840" y="2999232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Commit converts N serial syncs into one amortised I/O boundary. 8 threads deliver 4.3× the throughput of 1 — no hardware change required.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94760" y="1298448"/>
            <a:ext cx="1609344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94760" y="1298448"/>
            <a:ext cx="1609344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3" name="Text 21"/>
          <p:cNvSpPr/>
          <p:nvPr/>
        </p:nvSpPr>
        <p:spPr>
          <a:xfrm>
            <a:off x="3867912" y="13716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867912" y="1810512"/>
            <a:ext cx="1463040" cy="640080"/>
          </a:xfrm>
          <a:prstGeom prst="rect">
            <a:avLst/>
          </a:prstGeom>
          <a:solidFill>
            <a:srgbClr val="E8A020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67912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867912" y="2221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86200" y="25328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Is Deliberate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86200" y="2999232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 header fragmentation is the intentional price of hardware-page alignment. It trades a tiny storage inefficiency for predictable sequential I/O.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32120" y="1298448"/>
            <a:ext cx="1609344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6FA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32120" y="1298448"/>
            <a:ext cx="1609344" cy="54864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31" name="Text 29"/>
          <p:cNvSpPr/>
          <p:nvPr/>
        </p:nvSpPr>
        <p:spPr>
          <a:xfrm>
            <a:off x="5605272" y="13716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605272" y="1810512"/>
            <a:ext cx="1463040" cy="640080"/>
          </a:xfrm>
          <a:prstGeom prst="rect">
            <a:avLst/>
          </a:prstGeom>
          <a:solidFill>
            <a:srgbClr val="1A6FA0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05272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1.5×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605272" y="2221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23560" y="25328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Mode Is an SLA Knob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23560" y="2999232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from AbsoluteConsistency to TolerateCorrupted halves MTTR with zero correctness risk for clean shutdowns.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69480" y="1298448"/>
            <a:ext cx="1609344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7B4EA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69480" y="1298448"/>
            <a:ext cx="1609344" cy="54864"/>
          </a:xfrm>
          <a:prstGeom prst="rect">
            <a:avLst/>
          </a:prstGeom>
          <a:solidFill>
            <a:srgbClr val="7B4EA0"/>
          </a:solidFill>
          <a:ln/>
        </p:spPr>
      </p:sp>
      <p:sp>
        <p:nvSpPr>
          <p:cNvPr id="39" name="Text 37"/>
          <p:cNvSpPr/>
          <p:nvPr/>
        </p:nvSpPr>
        <p:spPr>
          <a:xfrm>
            <a:off x="7342632" y="13716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4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7342632" y="1810512"/>
            <a:ext cx="1463040" cy="640080"/>
          </a:xfrm>
          <a:prstGeom prst="rect">
            <a:avLst/>
          </a:prstGeom>
          <a:solidFill>
            <a:srgbClr val="7B4EA0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42632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∝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342632" y="2221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scaling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360920" y="25328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Size Predicts Downtime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360920" y="2999232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MTTR scaling means unbounded WAL growth is a direct availability threat. WAL rotation interval must be tuned against SLA recovery targets.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RocksDB WAL is a precision-engineered tradeoff engine.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84124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89888"/>
            <a:ext cx="64008" cy="15727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81328"/>
            <a:ext cx="8183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I/O and fixed-block alignment give the WAL near-optimal write throughput. Group Commit amortizes the kernel-boundary cost of fsync across concurrent workloads — turning concurrency from a problem into a performance multiplier. CRC-32C torn-write detection makes the log the single source of truth after any failure. The fundamental lesson: every parameter — sync policy, block size, recovery mode, rotation interval — is a dial that engineers must tune consciously against their availability and durability SLA.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3090672"/>
            <a:ext cx="26974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4F3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3090672"/>
            <a:ext cx="2697480" cy="54864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154680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524×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fsync performance tax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(StrictSync vs. Buffered)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3090672"/>
            <a:ext cx="26974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3090672"/>
            <a:ext cx="26974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3154680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4.3×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337560" y="38404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amplification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(Group Commit @ 8 threads)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090672"/>
            <a:ext cx="26974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1A6FA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3090672"/>
            <a:ext cx="2697480" cy="54864"/>
          </a:xfrm>
          <a:prstGeom prst="rect">
            <a:avLst/>
          </a:prstGeom>
          <a:solidFill>
            <a:srgbClr val="1A6FA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3154680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1.5×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217920" y="38404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improvement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(TolerateCorrupted mode)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Srishti Lamba  ·  Nikita Sharma  ·  DA-IICT Big Data Engineering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1441</Words>
  <Application>Microsoft Office PowerPoint</Application>
  <PresentationFormat>On-screen Show (16:9)</PresentationFormat>
  <Paragraphs>190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RocksDB WAL – Systems Analysis</dc:title>
  <dc:subject>PptxGenJS Presentation</dc:subject>
  <dc:creator>PptxGenJS</dc:creator>
  <cp:lastModifiedBy>SRISHTI LAMBA</cp:lastModifiedBy>
  <cp:revision>4</cp:revision>
  <dcterms:created xsi:type="dcterms:W3CDTF">2026-05-11T06:21:00Z</dcterms:created>
  <dcterms:modified xsi:type="dcterms:W3CDTF">2026-05-11T09:41:54Z</dcterms:modified>
</cp:coreProperties>
</file>