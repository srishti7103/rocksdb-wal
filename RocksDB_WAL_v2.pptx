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(ops/sec)</c:v>
                </c:pt>
              </c:strCache>
            </c:strRef>
          </c:tx>
          <c:spPr>
            <a:solidFill>
              <a:srgbClr val="B5451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1E6-4BC2-8264-5EC93E3C0C51}"/>
              </c:ext>
            </c:extLst>
          </c:dPt>
          <c:dPt>
            <c:idx val="1"/>
            <c:invertIfNegative val="0"/>
            <c:bubble3D val="0"/>
            <c:spPr>
              <a:solidFill>
                <a:srgbClr val="1A5C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1E6-4BC2-8264-5EC93E3C0C51}"/>
              </c:ext>
            </c:extLst>
          </c:dPt>
          <c:dPt>
            <c:idx val="2"/>
            <c:invertIfNegative val="0"/>
            <c:bubble3D val="0"/>
            <c:spPr>
              <a:solidFill>
                <a:srgbClr val="C8A8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1E6-4BC2-8264-5EC93E3C0C5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A242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Strict Sync</c:v>
                </c:pt>
                <c:pt idx="1">
                  <c:v>Buffered</c:v>
                </c:pt>
                <c:pt idx="2">
                  <c:v>No-WAL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1600</c:v>
                </c:pt>
                <c:pt idx="1">
                  <c:v>500000</c:v>
                </c:pt>
                <c:pt idx="2">
                  <c:v>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1E6-4BC2-8264-5EC93E3C0C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2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DD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9E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144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0" y="54864"/>
            <a:ext cx="4023360" cy="5088636"/>
          </a:xfrm>
          <a:prstGeom prst="rect">
            <a:avLst/>
          </a:prstGeom>
          <a:solidFill>
            <a:srgbClr val="F2EDE6"/>
          </a:solidFill>
          <a:ln w="12700">
            <a:solidFill>
              <a:srgbClr val="F2EDE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320040"/>
            <a:ext cx="3931920" cy="303580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20040"/>
            <a:ext cx="2743200" cy="7680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1480" y="128016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Write-Ahead Log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411480" y="18745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B5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Instrumentation &amp; Analysis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411480" y="2487168"/>
            <a:ext cx="4389120" cy="0"/>
          </a:xfrm>
          <a:prstGeom prst="line">
            <a:avLst/>
          </a:prstGeom>
          <a:noFill/>
          <a:ln w="12700">
            <a:solidFill>
              <a:srgbClr val="DED4C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260604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Reverse-engineering durability, performance, and fault</a:t>
            </a:r>
            <a:endParaRPr lang="en-US" sz="12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in the RocksDB WAL subsystem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11480" y="34290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Srishti Lamba  ·  Nikita Sharma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11480" y="37307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Sigma &amp; Spark  ·  BDE Course  ·  DA-IICT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114800"/>
            <a:ext cx="1828800" cy="5120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43600" y="45537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RocksDB by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4553712"/>
            <a:ext cx="1463040" cy="33832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8321040" cy="0"/>
          </a:xfrm>
          <a:prstGeom prst="line">
            <a:avLst/>
          </a:prstGeom>
          <a:noFill/>
          <a:ln w="9525">
            <a:solidFill>
              <a:srgbClr val="DED4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4892040"/>
            <a:ext cx="8321040" cy="0"/>
          </a:xfrm>
          <a:prstGeom prst="line">
            <a:avLst/>
          </a:prstGeom>
          <a:noFill/>
          <a:ln w="9525">
            <a:solidFill>
              <a:srgbClr val="DED4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15568"/>
            <a:ext cx="397764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ED4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15568"/>
            <a:ext cx="54864" cy="1572768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2529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B5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" y="17190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206654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WAL's role in LSM-Tree durability and the three key design decisions we investigated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15568"/>
            <a:ext cx="397764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ED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115568"/>
            <a:ext cx="54864" cy="1572768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22529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5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937760" y="17190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206654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Source-code tracing, telemetry injection, and benchmark design across 5 instrumentation points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944368"/>
            <a:ext cx="397764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ED4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944368"/>
            <a:ext cx="54864" cy="1572768"/>
          </a:xfrm>
          <a:prstGeom prst="rect">
            <a:avLst/>
          </a:prstGeom>
          <a:solidFill>
            <a:srgbClr val="C8A882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5409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A8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94360" y="3547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389534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Tax · Block Fragmentation · Recovery Modes · Group Commit Amplification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944368"/>
            <a:ext cx="397764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DED4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944368"/>
            <a:ext cx="54864" cy="1572768"/>
          </a:xfrm>
          <a:prstGeom prst="rect">
            <a:avLst/>
          </a:prstGeom>
          <a:solidFill>
            <a:srgbClr val="5C524B"/>
          </a:solidFill>
          <a:ln w="12700">
            <a:solidFill>
              <a:srgbClr val="5C52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05409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5C5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937760" y="3547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37760" y="389534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isolated benchmarks, execution pipeline, and quantitative results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8321040" cy="0"/>
          </a:xfrm>
          <a:prstGeom prst="line">
            <a:avLst/>
          </a:prstGeom>
          <a:noFill/>
          <a:ln w="9525">
            <a:solidFill>
              <a:srgbClr val="DED4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WAL Durability Dilemma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4892040"/>
            <a:ext cx="8321040" cy="0"/>
          </a:xfrm>
          <a:prstGeom prst="line">
            <a:avLst/>
          </a:prstGeom>
          <a:noFill/>
          <a:ln w="9525">
            <a:solidFill>
              <a:srgbClr val="DED4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5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WAL?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sequential on-disk log that records every write before it reaches the in-memory MemTable. In RocksDB's LSM-Tree, it is the sole durability guarantee — without it, any crash discards all uncompacted data.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212848"/>
            <a:ext cx="5029200" cy="0"/>
          </a:xfrm>
          <a:prstGeom prst="line">
            <a:avLst/>
          </a:prstGeom>
          <a:noFill/>
          <a:ln w="6350">
            <a:solidFill>
              <a:srgbClr val="DED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2768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5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Tension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WAL design choice trades off safety against speed. Enabling fsync() guarantees crash durability but collapses throughput by ~300×. These tradeoffs are buried in C++ internals with no external documentation of their quantitative cost.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374136"/>
            <a:ext cx="5029200" cy="0"/>
          </a:xfrm>
          <a:prstGeom prst="line">
            <a:avLst/>
          </a:prstGeom>
          <a:noFill/>
          <a:ln w="6350">
            <a:solidFill>
              <a:srgbClr val="DED4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4381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5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3739896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instrument the RocksDB source to quantify the exact performance cost of each durability decision, and identify which recovery mode minimises MTTR?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1115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Design Decisions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06440" y="1536192"/>
            <a:ext cx="29260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4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06440" y="1536192"/>
            <a:ext cx="54864" cy="822960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60934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Sync Policy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938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89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db_impl_write.cc:2264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06440" y="2523744"/>
            <a:ext cx="29260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4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2523744"/>
            <a:ext cx="54864" cy="82296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25968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Commit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89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write_thread.cc:440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06440" y="3511296"/>
            <a:ext cx="29260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4C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06440" y="3511296"/>
            <a:ext cx="54864" cy="822960"/>
          </a:xfrm>
          <a:prstGeom prst="rect">
            <a:avLst/>
          </a:prstGeom>
          <a:solidFill>
            <a:srgbClr val="C8A882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3584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 Alignment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0" y="39136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89E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log_writer.cc:320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8321040" cy="0"/>
          </a:xfrm>
          <a:prstGeom prst="line">
            <a:avLst/>
          </a:prstGeom>
          <a:noFill/>
          <a:ln w="9525">
            <a:solidFill>
              <a:srgbClr val="DED4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LSM-Tree Architecture  —  Where WAL Fits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4892040"/>
            <a:ext cx="8321040" cy="0"/>
          </a:xfrm>
          <a:prstGeom prst="line">
            <a:avLst/>
          </a:prstGeom>
          <a:noFill/>
          <a:ln w="9525">
            <a:solidFill>
              <a:srgbClr val="DED4C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0" y="1078991"/>
            <a:ext cx="12011122" cy="15178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3042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1480" y="2670048"/>
            <a:ext cx="26517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4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2788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⚛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69848" y="2807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Atomicity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76072" y="321868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Put() either fully persists (WAL + MemTable) or doesn't appear after recovery. Partial writes are detected via CRC-32C checksums.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27832" y="2670048"/>
            <a:ext cx="26517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4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92424" y="2788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886200" y="2807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Durability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392424" y="321868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fsync() flushes the kernel buffer to physical media. Without it, a power cut silently discards everything in OS page cache.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44184" y="2670048"/>
            <a:ext cx="26517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ED4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08776" y="2788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702552" y="2807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08776" y="321868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restart, RocksDB replays the WAL sequentially to rebuild the MemTable. Speed depends on the WALRecoveryMode enum.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8321040" cy="0"/>
          </a:xfrm>
          <a:prstGeom prst="line">
            <a:avLst/>
          </a:prstGeom>
          <a:noFill/>
          <a:ln w="9525">
            <a:solidFill>
              <a:srgbClr val="DED4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Instrumentation Approach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4892040"/>
            <a:ext cx="8321040" cy="0"/>
          </a:xfrm>
          <a:prstGeom prst="line">
            <a:avLst/>
          </a:prstGeom>
          <a:noFill/>
          <a:ln w="9525">
            <a:solidFill>
              <a:srgbClr val="DED4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33856"/>
            <a:ext cx="384048" cy="384048"/>
          </a:xfrm>
          <a:prstGeom prst="ellipse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33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0976" y="1115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 the Write Path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50976" y="140817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db_impl_write.cc → write_thread.cc → log_writer.cc to map the full Put() execution path before touching any code.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" y="1517904"/>
            <a:ext cx="0" cy="457200"/>
          </a:xfrm>
          <a:prstGeom prst="line">
            <a:avLst/>
          </a:prstGeom>
          <a:noFill/>
          <a:ln w="12700">
            <a:solidFill>
              <a:srgbClr val="DED4C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11480" y="2048256"/>
            <a:ext cx="384048" cy="384048"/>
          </a:xfrm>
          <a:prstGeom prst="ellipse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0976" y="20299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Inject Telemetry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50976" y="232257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std::atomic counters and std::chrono timestamps at 5 key callsites. No logic was altered — purely observational instrumentation.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" y="2432304"/>
            <a:ext cx="0" cy="457200"/>
          </a:xfrm>
          <a:prstGeom prst="line">
            <a:avLst/>
          </a:prstGeom>
          <a:noFill/>
          <a:ln w="12700">
            <a:solidFill>
              <a:srgbClr val="DED4C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11480" y="2962656"/>
            <a:ext cx="384048" cy="384048"/>
          </a:xfrm>
          <a:prstGeom prst="ellipse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0976" y="29443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Isolated Benchmarks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" y="323697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5 standalone C++ programs (sync_bench, fragment_bench, recovery_bench, batch_bench, skew_bench), each varying one variable.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" y="3346704"/>
            <a:ext cx="0" cy="457200"/>
          </a:xfrm>
          <a:prstGeom prst="line">
            <a:avLst/>
          </a:prstGeom>
          <a:noFill/>
          <a:ln w="12700">
            <a:solidFill>
              <a:srgbClr val="DED4C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11480" y="3877056"/>
            <a:ext cx="384048" cy="384048"/>
          </a:xfrm>
          <a:prstGeom prst="ellipse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50976" y="3858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Visualise Results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0976" y="415137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comparison.ipynb reads results/wal_performance_telemetry.csv and renders comparison plots via pandas + matplotlib + seaborn.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0" y="10789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Instrumentation Points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0" y="1444752"/>
            <a:ext cx="3063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4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79008" y="14996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545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db_impl_write.cc:2264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779008" y="174650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control flag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2103120"/>
            <a:ext cx="3063240" cy="566928"/>
          </a:xfrm>
          <a:prstGeom prst="rect">
            <a:avLst/>
          </a:prstGeom>
          <a:solidFill>
            <a:srgbClr val="F2EDE6"/>
          </a:solidFill>
          <a:ln w="6350">
            <a:solidFill>
              <a:srgbClr val="DED4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79008" y="21579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545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log_writer.cc:320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779008" y="240487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record emit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0" y="2761488"/>
            <a:ext cx="3063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4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79008" y="28163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545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db_impl_open.cc:1129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779008" y="30632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0" y="3419856"/>
            <a:ext cx="3063240" cy="566928"/>
          </a:xfrm>
          <a:prstGeom prst="rect">
            <a:avLst/>
          </a:prstGeom>
          <a:solidFill>
            <a:srgbClr val="F2EDE6"/>
          </a:solidFill>
          <a:ln w="6350">
            <a:solidFill>
              <a:srgbClr val="DED4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79008" y="34747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545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write_thread.cc:440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79008" y="37216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group leader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669280" y="4078224"/>
            <a:ext cx="3063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ED4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79008" y="41330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545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log_reader.cc:326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779008" y="4379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CRC-32C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8321040" cy="0"/>
          </a:xfrm>
          <a:prstGeom prst="line">
            <a:avLst/>
          </a:prstGeom>
          <a:noFill/>
          <a:ln w="9525">
            <a:solidFill>
              <a:srgbClr val="DED4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KEY FINDING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Safety Tax — Sync vs. Buffered Write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4892040"/>
            <a:ext cx="8321040" cy="0"/>
          </a:xfrm>
          <a:prstGeom prst="line">
            <a:avLst/>
          </a:prstGeom>
          <a:noFill/>
          <a:ln w="9525">
            <a:solidFill>
              <a:srgbClr val="DED4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51560"/>
            <a:ext cx="2578608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ED4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51560"/>
            <a:ext cx="2578608" cy="4572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7043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5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~500K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11480" y="177393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/ sec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048256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Buffered write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(sync = false)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1051560"/>
            <a:ext cx="2578608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ED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7832" y="1051560"/>
            <a:ext cx="2578608" cy="45720"/>
          </a:xfrm>
          <a:prstGeom prst="rect">
            <a:avLst/>
          </a:prstGeom>
          <a:solidFill>
            <a:srgbClr val="C8A882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117043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8A8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~500K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27832" y="177393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/ sec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9272" y="2048256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No-WAL write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(disableWAL = true)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44184" y="1051560"/>
            <a:ext cx="2578608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ED4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44184" y="1051560"/>
            <a:ext cx="2578608" cy="45720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44184" y="117043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5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~1,600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044184" y="177393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/ sec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35624" y="2048256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sync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(fsync = true)</a:t>
            </a:r>
            <a:endParaRPr lang="en-US" sz="10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411480" y="2560320"/>
          <a:ext cx="530352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5943600" y="2560320"/>
            <a:ext cx="2788920" cy="2148840"/>
          </a:xfrm>
          <a:prstGeom prst="rect">
            <a:avLst/>
          </a:prstGeom>
          <a:solidFill>
            <a:srgbClr val="F2EDE6"/>
          </a:solidFill>
          <a:ln w="9525">
            <a:solidFill>
              <a:srgbClr val="DED4C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2697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Takeaway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080760" y="3054096"/>
            <a:ext cx="2423160" cy="0"/>
          </a:xfrm>
          <a:prstGeom prst="line">
            <a:avLst/>
          </a:prstGeom>
          <a:noFill/>
          <a:ln w="6350">
            <a:solidFill>
              <a:srgbClr val="DED4C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80760" y="3145536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fsync()</a:t>
            </a:r>
            <a:r>
              <a:rPr lang="en-US" sz="110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forces writes past the OS page cache to physical storage — pinning performance to hardware limits.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roughly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300×</a:t>
            </a:r>
            <a:r>
              <a:rPr lang="en-US" sz="110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throughput reduction. This is the measurable cost of crash durability.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8321040" cy="0"/>
          </a:xfrm>
          <a:prstGeom prst="line">
            <a:avLst/>
          </a:prstGeom>
          <a:noFill/>
          <a:ln w="9525">
            <a:solidFill>
              <a:srgbClr val="DED4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KEY FINDING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 Fragmentation &amp; Recovery Modes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4892040"/>
            <a:ext cx="8321040" cy="0"/>
          </a:xfrm>
          <a:prstGeom prst="line">
            <a:avLst/>
          </a:prstGeom>
          <a:noFill/>
          <a:ln w="9525">
            <a:solidFill>
              <a:srgbClr val="DED4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424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2  ·  32 KB Block Alignment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r="32213" b="35955"/>
          <a:stretch>
            <a:fillRect/>
          </a:stretch>
        </p:blipFill>
        <p:spPr>
          <a:xfrm>
            <a:off x="461280" y="1316736"/>
            <a:ext cx="2725240" cy="24301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354787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32 KB blocks introduce 2.7% header overhead for hardware-aligned I/O — a fixed storage tax for SSD compatibility.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042416"/>
            <a:ext cx="0" cy="3200400"/>
          </a:xfrm>
          <a:prstGeom prst="line">
            <a:avLst/>
          </a:prstGeom>
          <a:noFill/>
          <a:ln w="9525">
            <a:solidFill>
              <a:srgbClr val="DED4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10424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3  ·  Recovery Mode Timing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71600"/>
            <a:ext cx="3931920" cy="2487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46320" y="3950208"/>
            <a:ext cx="38862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4C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983480" y="400507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14×  </a:t>
            </a:r>
            <a:r>
              <a:rPr lang="en-US" sz="105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recovery with TolerateCorrupted vs AbsoluteConsistency.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mode directly bounds your system's MTTR.</a:t>
            </a:r>
            <a:endParaRPr lang="en-US" sz="1600" dirty="0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6E15ECB7-E8F2-7236-6ADC-5B2AB51A84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944" b="5084"/>
          <a:stretch>
            <a:fillRect/>
          </a:stretch>
        </p:blipFill>
        <p:spPr>
          <a:xfrm>
            <a:off x="411480" y="3369565"/>
            <a:ext cx="2623186" cy="2468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8321040" cy="0"/>
          </a:xfrm>
          <a:prstGeom prst="line">
            <a:avLst/>
          </a:prstGeom>
          <a:noFill/>
          <a:ln w="9525">
            <a:solidFill>
              <a:srgbClr val="DED4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KEY FINDING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Commit &amp; Concurrency Scaling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4892040"/>
            <a:ext cx="8321040" cy="0"/>
          </a:xfrm>
          <a:prstGeom prst="line">
            <a:avLst/>
          </a:prstGeom>
          <a:noFill/>
          <a:ln w="9525">
            <a:solidFill>
              <a:srgbClr val="DED4C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b="30522"/>
          <a:stretch>
            <a:fillRect/>
          </a:stretch>
        </p:blipFill>
        <p:spPr>
          <a:xfrm>
            <a:off x="411480" y="1042416"/>
            <a:ext cx="5120640" cy="20482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1042416"/>
            <a:ext cx="29718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4C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0" y="1042416"/>
            <a:ext cx="54864" cy="1600200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25312" y="115214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B5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7.6×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925312" y="1664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gain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25312" y="1938528"/>
            <a:ext cx="2633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8 threads. Not linear, because one fsync() serves all writers in a batch window.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60720" y="2871216"/>
            <a:ext cx="29718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4C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60720" y="2871216"/>
            <a:ext cx="54864" cy="160020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25312" y="298094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5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O(n)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5925312" y="34930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scaling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25312" y="3767328"/>
            <a:ext cx="2633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5: WAL recovery time grows linearly with volume. Periodic checkpointing is mandatory.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11480" y="314978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write_thread.cc:440 — the batch leader collects all pending writers into one group and issues a single fsync() on their behalf.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8321040" cy="0"/>
          </a:xfrm>
          <a:prstGeom prst="line">
            <a:avLst/>
          </a:prstGeom>
          <a:noFill/>
          <a:ln w="9525">
            <a:solidFill>
              <a:srgbClr val="DED4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EXPERIMENTS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Pipeline  &amp;  Study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4892040"/>
            <a:ext cx="8321040" cy="0"/>
          </a:xfrm>
          <a:prstGeom prst="line">
            <a:avLst/>
          </a:prstGeom>
          <a:noFill/>
          <a:ln w="9525">
            <a:solidFill>
              <a:srgbClr val="DED4C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42416"/>
            <a:ext cx="8321040" cy="9875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176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Summary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1480" y="2487168"/>
            <a:ext cx="804672" cy="347472"/>
          </a:xfrm>
          <a:prstGeom prst="rect">
            <a:avLst/>
          </a:prstGeom>
          <a:solidFill>
            <a:srgbClr val="2A2420"/>
          </a:solidFill>
          <a:ln w="12700">
            <a:solidFill>
              <a:srgbClr val="2A24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" y="250545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261872" y="2487168"/>
            <a:ext cx="1755648" cy="347472"/>
          </a:xfrm>
          <a:prstGeom prst="rect">
            <a:avLst/>
          </a:prstGeom>
          <a:solidFill>
            <a:srgbClr val="2A2420"/>
          </a:solidFill>
          <a:ln w="12700">
            <a:solidFill>
              <a:srgbClr val="2A24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35024" y="2505456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File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063240" y="2487168"/>
            <a:ext cx="2057400" cy="347472"/>
          </a:xfrm>
          <a:prstGeom prst="rect">
            <a:avLst/>
          </a:prstGeom>
          <a:solidFill>
            <a:srgbClr val="2A2420"/>
          </a:solidFill>
          <a:ln w="12700">
            <a:solidFill>
              <a:srgbClr val="2A24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36392" y="2505456"/>
            <a:ext cx="198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Isolated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166360" y="2487168"/>
            <a:ext cx="3566160" cy="347472"/>
          </a:xfrm>
          <a:prstGeom prst="rect">
            <a:avLst/>
          </a:prstGeom>
          <a:solidFill>
            <a:srgbClr val="2A2420"/>
          </a:solidFill>
          <a:ln w="12700">
            <a:solidFill>
              <a:srgbClr val="2A24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39512" y="2505456"/>
            <a:ext cx="3493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11480" y="2834640"/>
            <a:ext cx="8321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D4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" y="288036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1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335024" y="2880360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545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sync_bench.cc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136392" y="288036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flag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239512" y="28803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fsync = ~300× throughput cost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11480" y="3255264"/>
            <a:ext cx="8321040" cy="420624"/>
          </a:xfrm>
          <a:prstGeom prst="rect">
            <a:avLst/>
          </a:prstGeom>
          <a:solidFill>
            <a:srgbClr val="F2EDE6"/>
          </a:solidFill>
          <a:ln w="6350">
            <a:solidFill>
              <a:srgbClr val="DED4C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" y="3300984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2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335024" y="3300984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545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fragment_bench.cc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136392" y="330098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alignment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239512" y="330098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2.7% header overhead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11480" y="3675888"/>
            <a:ext cx="8321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D4C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" y="372160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3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335024" y="3721608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545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recovery_bench.cc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136392" y="372160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WALRecoveryMode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239512" y="37216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TolerateCorrupted: 14× faster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11480" y="4096512"/>
            <a:ext cx="8321040" cy="420624"/>
          </a:xfrm>
          <a:prstGeom prst="rect">
            <a:avLst/>
          </a:prstGeom>
          <a:solidFill>
            <a:srgbClr val="F2EDE6"/>
          </a:solidFill>
          <a:ln w="6350">
            <a:solidFill>
              <a:srgbClr val="DED4C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" y="4142232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4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335024" y="4142232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545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batch_bench.cc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136392" y="414223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count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239512" y="4142232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7.6× throughput @ 8 threads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11480" y="4517136"/>
            <a:ext cx="83210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ED4C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4632" y="4562856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5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1335024" y="4562856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545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skew_bench.cc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3136392" y="456285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volume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5239512" y="456285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5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O(n) recovery scaling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WAL configuration is a negotiation between safety, speed, and recoverability.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0"/>
          </a:xfrm>
          <a:prstGeom prst="line">
            <a:avLst/>
          </a:prstGeom>
          <a:noFill/>
          <a:ln w="9525">
            <a:solidFill>
              <a:srgbClr val="DED4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399592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4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71600"/>
            <a:ext cx="54864" cy="1508760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9848" y="14813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vs Speed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6072" y="186537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fsync() guarantees crash durability at a ~300× throughput penalty. Buffered writes rely on OS page cache — fast but not crash-safe.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27448" y="1371600"/>
            <a:ext cx="399592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27448" y="1371600"/>
            <a:ext cx="54864" cy="1508760"/>
          </a:xfrm>
          <a:prstGeom prst="rect">
            <a:avLst/>
          </a:prstGeom>
          <a:solidFill>
            <a:srgbClr val="C8A882"/>
          </a:solidFill>
          <a:ln w="12700">
            <a:solidFill>
              <a:srgbClr val="C8A8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85816" y="14813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Alignment Overhead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86537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32 KB block alignment costs 2.7% storage as header metadata. A small, predictable price for hardware-aligned I/O.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063240"/>
            <a:ext cx="399592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4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063240"/>
            <a:ext cx="54864" cy="1508760"/>
          </a:xfrm>
          <a:prstGeom prst="rect">
            <a:avLst/>
          </a:prstGeom>
          <a:solidFill>
            <a:srgbClr val="1A5C52"/>
          </a:solidFill>
          <a:ln w="12700">
            <a:solidFill>
              <a:srgbClr val="1A5C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69848" y="31729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Recovery Flexibility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6072" y="355701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kTolerateCorruptedTailRecords is 14× faster than kAbsoluteConsistency. Recovery mode selection is a direct MTTR control.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27448" y="3063240"/>
            <a:ext cx="3995928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ED4C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27448" y="3063240"/>
            <a:ext cx="54864" cy="1508760"/>
          </a:xfrm>
          <a:prstGeom prst="rect">
            <a:avLst/>
          </a:prstGeom>
          <a:solidFill>
            <a:srgbClr val="5C524B"/>
          </a:solidFill>
          <a:ln w="12700">
            <a:solidFill>
              <a:srgbClr val="5C52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85816" y="31729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Commit Efficiency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3557016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fsync() serves an entire batch of concurrent writers. 8 threads deliver 7.6× throughput with zero code changes.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4800600"/>
            <a:ext cx="8321040" cy="0"/>
          </a:xfrm>
          <a:prstGeom prst="line">
            <a:avLst/>
          </a:prstGeom>
          <a:noFill/>
          <a:ln w="9525">
            <a:solidFill>
              <a:srgbClr val="DED4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9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github.com/srishti7103/rocksdb-WAL  ·  branch: wal-experiments  ·  Team Sigma &amp; Spark  ·  DA-IICT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993</Words>
  <Application>Microsoft Office PowerPoint</Application>
  <PresentationFormat>On-screen Show (16:9)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RocksDB WAL Instrumentation</dc:title>
  <dc:subject>PptxGenJS Presentation</dc:subject>
  <dc:creator>Srishti Lamba &amp; Nikita Sharma</dc:creator>
  <cp:lastModifiedBy>SRISHTI LAMBA</cp:lastModifiedBy>
  <cp:revision>3</cp:revision>
  <dcterms:created xsi:type="dcterms:W3CDTF">2026-05-09T17:12:44Z</dcterms:created>
  <dcterms:modified xsi:type="dcterms:W3CDTF">2026-05-09T17:19:22Z</dcterms:modified>
</cp:coreProperties>
</file>